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56" r:id="rId3"/>
    <p:sldId id="272" r:id="rId4"/>
    <p:sldId id="257" r:id="rId5"/>
    <p:sldId id="273" r:id="rId6"/>
    <p:sldId id="269" r:id="rId7"/>
    <p:sldId id="259" r:id="rId8"/>
    <p:sldId id="258" r:id="rId9"/>
    <p:sldId id="268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968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A45DB-76F4-E489-5F39-1B40EBA86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E6FD6-C852-0E73-D7D8-BA1B7BE01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F422B-7397-F5B3-E2EA-8C0D2811B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EC816-B1E6-DE09-CA94-EE41A1B94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631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C0430-D707-1A5D-7FE4-20020227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E056B-DE3D-F8CF-6B10-B6EC01036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04151-D17A-E11C-E015-CA18CF11F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46001-3EDF-6E61-9010-91E3A0BCA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47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3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8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5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7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5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9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2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9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5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5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B2A4A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10424160" y="5212080"/>
            <a:ext cx="2194560" cy="219456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SOLUTIONS DEVELOPMENT  •  AASD 4016 / 4017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EnergyForecast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trained forecasting model online — a publicly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cloud-deployed LSTM service for the oil production industry.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Brown College  –  Full Stack Data Science Systems &amp; Presenting Data Science-driven Solutions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3825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Kourosh Shahram, PhD, PMP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11930-EFD0-D180-3D8D-FE9443DC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647C50-1FF9-1DC8-F49E-591DDD538B6D}"/>
              </a:ext>
            </a:extLst>
          </p:cNvPr>
          <p:cNvSpPr/>
          <p:nvPr/>
        </p:nvSpPr>
        <p:spPr>
          <a:xfrm>
            <a:off x="8622792" y="384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Pitch — Solution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6B3D01-86CE-2FCC-3769-818FB183BE02}"/>
              </a:ext>
            </a:extLst>
          </p:cNvPr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4A01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B3C92C-8467-696C-D95F-6E8E4D2B39D5}"/>
              </a:ext>
            </a:extLst>
          </p:cNvPr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data, forecast, then plan the optimal mix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905948-4D01-2462-EFDC-151FA404D307}"/>
              </a:ext>
            </a:extLst>
          </p:cNvPr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2F0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price-forecasting product. Forecasting is one step; the product is the plan — the optimal, budget-constrained combination of energy resources over a 10-year horizon.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32EB16-7C08-38AF-8FFA-150C01320BBD}"/>
              </a:ext>
            </a:extLst>
          </p:cNvPr>
          <p:cNvSpPr/>
          <p:nvPr/>
        </p:nvSpPr>
        <p:spPr>
          <a:xfrm>
            <a:off x="54864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3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41DFFA-90BD-503D-4E77-004AD8E33C4E}"/>
              </a:ext>
            </a:extLst>
          </p:cNvPr>
          <p:cNvSpPr/>
          <p:nvPr/>
        </p:nvSpPr>
        <p:spPr>
          <a:xfrm>
            <a:off x="822960" y="2587752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F2D3DD-6AF7-6E41-C94C-4B96B468EADA}"/>
              </a:ext>
            </a:extLst>
          </p:cNvPr>
          <p:cNvSpPr/>
          <p:nvPr/>
        </p:nvSpPr>
        <p:spPr>
          <a:xfrm>
            <a:off x="82296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7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A11D70-48E9-263A-60E9-EB100297AF13}"/>
              </a:ext>
            </a:extLst>
          </p:cNvPr>
          <p:cNvSpPr/>
          <p:nvPr/>
        </p:nvSpPr>
        <p:spPr>
          <a:xfrm>
            <a:off x="1417320" y="2606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9AA5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D3F513-9622-EC3D-E609-FCD289EE4D10}"/>
              </a:ext>
            </a:extLst>
          </p:cNvPr>
          <p:cNvSpPr/>
          <p:nvPr/>
        </p:nvSpPr>
        <p:spPr>
          <a:xfrm>
            <a:off x="82296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Analysis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B14474-AEAD-3D3D-893C-3AC8BF70B076}"/>
              </a:ext>
            </a:extLst>
          </p:cNvPr>
          <p:cNvSpPr/>
          <p:nvPr/>
        </p:nvSpPr>
        <p:spPr>
          <a:xfrm>
            <a:off x="822960" y="3703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6C90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BBFFA9-5C45-1F51-C3EF-8844BC81E292}"/>
              </a:ext>
            </a:extLst>
          </p:cNvPr>
          <p:cNvSpPr/>
          <p:nvPr/>
        </p:nvSpPr>
        <p:spPr>
          <a:xfrm>
            <a:off x="822960" y="41148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2F0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analyzing the influential data: inflation rate, available resources, historical energy prices &amp; consumption, and available technology.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FD6DB3-E70C-7A09-4879-D04DD9797AC8}"/>
              </a:ext>
            </a:extLst>
          </p:cNvPr>
          <p:cNvSpPr/>
          <p:nvPr/>
        </p:nvSpPr>
        <p:spPr>
          <a:xfrm>
            <a:off x="434340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252B35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4D71A2F-56FD-9CEF-A34F-D788614EA529}"/>
              </a:ext>
            </a:extLst>
          </p:cNvPr>
          <p:cNvSpPr/>
          <p:nvPr/>
        </p:nvSpPr>
        <p:spPr>
          <a:xfrm>
            <a:off x="4617720" y="2587752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295EE3D-075F-B029-6B34-62A20713919C}"/>
              </a:ext>
            </a:extLst>
          </p:cNvPr>
          <p:cNvSpPr/>
          <p:nvPr/>
        </p:nvSpPr>
        <p:spPr>
          <a:xfrm>
            <a:off x="461772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7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29E1FC-2995-A0B6-F001-57CBB6A601FB}"/>
              </a:ext>
            </a:extLst>
          </p:cNvPr>
          <p:cNvSpPr/>
          <p:nvPr/>
        </p:nvSpPr>
        <p:spPr>
          <a:xfrm>
            <a:off x="5212080" y="2606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9AA5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7D15BC-143D-4E9B-432E-5E4BBC8E1BB4}"/>
              </a:ext>
            </a:extLst>
          </p:cNvPr>
          <p:cNvSpPr/>
          <p:nvPr/>
        </p:nvSpPr>
        <p:spPr>
          <a:xfrm>
            <a:off x="461772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78EB5A8-10FF-CCBB-B851-B335EF03F7B5}"/>
              </a:ext>
            </a:extLst>
          </p:cNvPr>
          <p:cNvSpPr/>
          <p:nvPr/>
        </p:nvSpPr>
        <p:spPr>
          <a:xfrm>
            <a:off x="4617720" y="3703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6FBF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VALIDATED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227DB35-0A82-D381-D48D-A07C88291108}"/>
              </a:ext>
            </a:extLst>
          </p:cNvPr>
          <p:cNvSpPr/>
          <p:nvPr/>
        </p:nvSpPr>
        <p:spPr>
          <a:xfrm>
            <a:off x="4617720" y="41148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2F0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LSTM models predict energy prices, consumption, and resource availability. Proven on WTI crude: MAPE 2.97%, R² 0.928.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389C403-0856-F0D8-8C76-13A4EAA73FFD}"/>
              </a:ext>
            </a:extLst>
          </p:cNvPr>
          <p:cNvSpPr/>
          <p:nvPr/>
        </p:nvSpPr>
        <p:spPr>
          <a:xfrm>
            <a:off x="813816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3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E85AA78-7B62-E7BD-F6C1-9F53C5146115}"/>
              </a:ext>
            </a:extLst>
          </p:cNvPr>
          <p:cNvSpPr/>
          <p:nvPr/>
        </p:nvSpPr>
        <p:spPr>
          <a:xfrm>
            <a:off x="8412480" y="2587752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ADF451-DB32-7C05-BD9D-1898247B8DC2}"/>
              </a:ext>
            </a:extLst>
          </p:cNvPr>
          <p:cNvSpPr/>
          <p:nvPr/>
        </p:nvSpPr>
        <p:spPr>
          <a:xfrm>
            <a:off x="84124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7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75411FF-FF68-D4BB-83AD-B328EF1EF4C8}"/>
              </a:ext>
            </a:extLst>
          </p:cNvPr>
          <p:cNvSpPr/>
          <p:nvPr/>
        </p:nvSpPr>
        <p:spPr>
          <a:xfrm>
            <a:off x="9006840" y="2606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9AA5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F6E99F9-F22E-C339-0C09-2C4CDD9661E0}"/>
              </a:ext>
            </a:extLst>
          </p:cNvPr>
          <p:cNvSpPr/>
          <p:nvPr/>
        </p:nvSpPr>
        <p:spPr>
          <a:xfrm>
            <a:off x="84124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/ Planning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D6725F4-556E-1F3D-B0C9-55EA816CB19A}"/>
              </a:ext>
            </a:extLst>
          </p:cNvPr>
          <p:cNvSpPr/>
          <p:nvPr/>
        </p:nvSpPr>
        <p:spPr>
          <a:xfrm>
            <a:off x="8412480" y="3703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E8C7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NEXT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55701C0-AF02-3912-4AEF-FE09AA578CE9}"/>
              </a:ext>
            </a:extLst>
          </p:cNvPr>
          <p:cNvSpPr/>
          <p:nvPr/>
        </p:nvSpPr>
        <p:spPr>
          <a:xfrm>
            <a:off x="8412480" y="41148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2F0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Takes the forecasts, an available budget, and the planning horizon, and computes the optimal resource mix — the same class of problem as capacity-expansion models (e.g. TIMES/MARKAL).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B5DD13C-EC73-725F-53C8-BBD344374AC5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4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3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LSTM?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2296" cy="196596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60120" y="1901952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prices are time-series data — the current price is influenced by patterns and information from previous days. LSTM is specifically designed to learn dependencies across sequences: it looks at the previous 60 days and learns which information matters, retaining what's relevant and discarding what isn't.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7772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price depends on recent history — not just today's inputs in isolation.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15968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44568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44568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60 consecutive days before making a single next-day prediction.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8311896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311896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gates decide what to keep, update, or forget as the sequence is processed.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B9F2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From 5 market variables to 26 LSTM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1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 raw market features + 21 engineered/derived features = 26 inputs for each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240280" cy="4434840"/>
          </a:xfrm>
          <a:prstGeom prst="roundRect">
            <a:avLst/>
          </a:prstGeom>
          <a:solidFill>
            <a:srgbClr val="14345F"/>
          </a:solidFill>
          <a:ln>
            <a:solidFill>
              <a:srgbClr val="14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 RAW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95728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Oil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9923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Natural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02736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USD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206240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VIX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809744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 Gold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07792" y="3337560"/>
            <a:ext cx="594360" cy="502920"/>
          </a:xfrm>
          <a:prstGeom prst="rightArrow">
            <a:avLst/>
          </a:prstGeom>
          <a:solidFill>
            <a:srgbClr val="EB9F2B"/>
          </a:solidFill>
          <a:ln>
            <a:solidFill>
              <a:srgbClr val="EB9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88920" y="388620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Feature
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1600200"/>
            <a:ext cx="7955279" cy="4434840"/>
          </a:xfrm>
          <a:prstGeom prst="roundRect">
            <a:avLst/>
          </a:prstGeom>
          <a:solidFill>
            <a:srgbClr val="EFF8F1"/>
          </a:solidFill>
          <a:ln>
            <a:solidFill>
              <a:srgbClr val="358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7639" y="1810512"/>
            <a:ext cx="7406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358F5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21 ENGINEERED / DERIVED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33172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87368" y="242316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Lag features —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679191"/>
            <a:ext cx="20574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Oil_Lag_1
• Oil_Lag_5
• Oil_Lag_10
• Oil_Lag_21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33172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7688" y="242316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Rolling statistics —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679191"/>
            <a:ext cx="20574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RollMean_7
• RollMean_21
• RollMean_60
• RollStd_7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33172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08007" y="242316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Returns —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7" y="2679191"/>
            <a:ext cx="20574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Oil_LogRet
• Gas_LogRet
• Gold_LogRet
• VIX_LogRet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370332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87368" y="3794759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Momentum &amp; volatility —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4050791"/>
            <a:ext cx="20574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Momentum_7
• Momentum_21
• Volatility_21
• Volatility_60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70332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47688" y="3794759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Calendar features —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050791"/>
            <a:ext cx="20574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Month
• Quarter
• DayOfWeek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70332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E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08007" y="3794759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Relationship / indicator —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7" y="4050791"/>
            <a:ext cx="20574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Gold_Oil_Ratio
• VIX_Spike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6236208"/>
            <a:ext cx="7040880" cy="411480"/>
          </a:xfrm>
          <a:prstGeom prst="roundRect">
            <a:avLst/>
          </a:prstGeom>
          <a:solidFill>
            <a:srgbClr val="EEF4F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97680" y="6318504"/>
            <a:ext cx="6766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43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 each of 60 days: 26 values  →  LSTM input shape = 60 × 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263640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5E69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Calendar features come from the date; most others are derived from market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LSTM Logic: Forecasting Tomorrow's Oil Price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turns 60 days of oil market data into a single next-day price forecast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0332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0881360" y="188366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— the running memory of oil-market conditions, carried across all 60 days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7460" y="1965960"/>
            <a:ext cx="0" cy="54864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1143000" y="27432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27614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33832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D9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Looks at today's oil-market data and yesterday's summary, and decides which older price patterns are no longer useful for tomorrow's forecast.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43000" y="4270248"/>
            <a:ext cx="2788920" cy="0"/>
          </a:xfrm>
          <a:prstGeom prst="line">
            <a:avLst/>
          </a:prstGeom>
          <a:noFill/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1143000" y="4343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dropping an old price trend once the market has clearly shifted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87952" y="3579876"/>
            <a:ext cx="265176" cy="201168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103620" y="1965960"/>
            <a:ext cx="0" cy="54864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480560" y="25146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7091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0" y="27614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9160" y="33832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D9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parts of today's 26 oil-market features are worth remembering going forward.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9160" y="4270248"/>
            <a:ext cx="2788920" cy="0"/>
          </a:xfrm>
          <a:prstGeom prst="line">
            <a:avLst/>
          </a:prstGeom>
          <a:noFill/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709160" y="4343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registering a sudden VIX spike or oil-price jump as significant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54112" y="3579876"/>
            <a:ext cx="265176" cy="201168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9669780" y="1965960"/>
            <a:ext cx="0" cy="54864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8046720" y="25146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8275320" y="27432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8275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9680" y="27614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75320" y="33832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D9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part of the updated memory gets passed forward as the summary used to predict tomorrow's oil price.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75320" y="4270248"/>
            <a:ext cx="2788920" cy="0"/>
          </a:xfrm>
          <a:prstGeom prst="line">
            <a:avLst/>
          </a:prstGeom>
          <a:noFill/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8275320" y="4343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surfacing recent price momentum as the key signal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5074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Inputs each day: that day's 26 oil-market features (price, gold, VIX, USD, lags...)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52560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Passed to the next day →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14400" y="553212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1188720" y="56692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three-gate cycle repeats once per day across all 60 days of oil-market history. On day 60, the final memory — a filtered summary of what actually mattered across the sequence, not just yesterday's price — is passed to a Dense layer that outputs a single number: tomorrow's predicted WTI oil price.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2-layer LSTM, trained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20 years of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14600" y="2148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LSTM(128) → Dropout(0.2) → LSTM(64) → Dropout(0.2) → Dense(32) → Dense(1)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6537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14600" y="28620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(60, 26) — 60-day lookback window × 26 engineered features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92424"/>
            <a:ext cx="6537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14600" y="35753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4,933 daily records, 2006–2026, 80/20 chronological split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6537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4288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14600" y="42885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MSE loss, EarlyStopping + ReduceLROnPlateau callbacks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18888"/>
            <a:ext cx="65379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7452360" y="214884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680960" y="2221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555480" y="2148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310896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680960" y="31821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55548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52360" y="406908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680960" y="41422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555480" y="4069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(USD)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502920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7680960" y="51023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555480" y="5029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(early-stopped)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57FEDE-405B-C240-22D4-9C5345768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166232"/>
            <a:ext cx="12012701" cy="6525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CF93A-774C-6188-3ACF-A663FF05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466DF0-341F-5963-0129-EEB01D7EE62D}"/>
              </a:ext>
            </a:extLst>
          </p:cNvPr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8DDC682-06F3-D7AD-7542-2E1BB34CE25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DE083-B4A4-9222-9652-5985A32E5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380"/>
            <a:ext cx="12192000" cy="67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1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Engineering, not just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FEATURES, ONE SHARED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7607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Oil, Gold, Natural Gas, USD Index, VIX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7607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&amp; momentum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20954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1/5/10/21-day lags, 7/21-day momentum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57607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31520" y="378561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05993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7/21/60-day rolling mean &amp; std, volatility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62856"/>
            <a:ext cx="576072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31520" y="46360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signals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9103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returns, Gold/Oil ratio, VIX spike flag, calendar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feature_pipeline.py is imported by BOTH training and serving — identical scaling and windowing logic guarantees zero train/serve skew.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01168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670048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903720" y="267004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26700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(primary) + Flask (parallel)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328416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903720" y="33284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python:3.11-slim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3986784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903720" y="39867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hosting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3986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4645152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903720" y="46451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46451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530352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903720" y="5303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5303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official API + yfinance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builds its own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60-day input, on every click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days from FRED (Oil, Gas, USD, VIX) + yfinance (Gold)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2331720"/>
            <a:ext cx="219456" cy="164592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1071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10712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0712" y="3154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all 26 features — rolling stats need history before day 1 is usable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19456" cy="164592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27278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72784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2784" y="3154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most recent 60 fully-engineered rows: .tail(60)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97112" y="2331720"/>
            <a:ext cx="219456" cy="164592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913485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34856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34856" y="3154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60×26 matrix to the deployed FastAPI model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replaced an earlier version that required the user to manually paste 60 rows of market data — the fetch/engineer/slice pipeline now does it automatically, live, on every request.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— DATA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sources failed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three different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9631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FRED's chart-export endpoint hung intermittently in Docker and on Streamlit Cloud — works locally, silently times out from cloud IP ranges.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214884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B876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26364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8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24963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FRED's official, documented REST API (api.stlouisfed.org) with a free key and explicit connect/read timeouts.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1363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unverified Gold API (xaus.com) wasn't a real stable source; the fallback (Stooq CSV) then returned a live 404 for everyone, not just this code.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356616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B876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263640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8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391363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both with yfinance — a maintained library, not another hand-scraped endpoint.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3095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Docker's internal DNS resolver hung on lookups — a timeout value on the request never covered the DNS phase at all.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498348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B876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263640" y="5074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B8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533095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global socket timeout plus explicit DNS servers (8.8.8.8 / 1.1.1.1) in docker-compose.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— ENVIRONMENT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it running was its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engineering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3042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vs. TensorFlow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had no build for the newest Python — resolved by installing Python 3.13 alongside it in a dedicated virtual environment.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BF9F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3558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compiling from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3375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pre-built wheel for the pinned NumPy version on 3.13 — fixed by upgrading to numpy 2.1.3 / scikit-learn 1.6.1, both with ready-made wheels.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free-tier services sleep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and Render both idle out and “wake up” on first request — expected behavior, not a bug, but a real demo-day consideration.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BF9F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777240" y="56235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77240" y="5623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4589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54406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FRED_API_KEY has to be set three separate places consistently — local env var, Streamlit secrets, and never hardcoded into committed code.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managed cloud services,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API contract between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6868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live data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Fetches FRED + yfinance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7216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Engineers 26 features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1056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the (60,26) input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48970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Renders the forecast chart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212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energy-price-prediction-ai.streamlit.app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15000" y="3840480"/>
            <a:ext cx="777240" cy="411480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532120" y="33375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29400" y="228600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9494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FastAPI inference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3337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Receives the finished matrix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37216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Loads the trained LSTM once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0" y="41056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model.predict()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448970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Returns price as JSON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5212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oil-price-api-3-0.onrender.com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never touches raw market data — it only ever sees the finished 60×26 matrix.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running inside the container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4846320"/>
          </a:xfrm>
          <a:prstGeom prst="roundRect">
            <a:avLst>
              <a:gd name="adj" fmla="val 1887"/>
            </a:avLst>
          </a:prstGeom>
          <a:solidFill>
            <a:srgbClr val="24365E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 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2103120"/>
            <a:ext cx="10104120" cy="4069080"/>
          </a:xfrm>
          <a:prstGeom prst="roundRect">
            <a:avLst>
              <a:gd name="adj" fmla="val 1798"/>
            </a:avLst>
          </a:prstGeom>
          <a:solidFill>
            <a:srgbClr val="1B2A4A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50876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2944368"/>
            <a:ext cx="0" cy="274320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1965960" y="2948940"/>
            <a:ext cx="3200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2286000" y="2697480"/>
            <a:ext cx="8732520" cy="502920"/>
          </a:xfrm>
          <a:prstGeom prst="roundRect">
            <a:avLst>
              <a:gd name="adj" fmla="val 10909"/>
            </a:avLst>
          </a:prstGeom>
          <a:solidFill>
            <a:srgbClr val="3145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51460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944368"/>
            <a:ext cx="0" cy="402336"/>
          </a:xfrm>
          <a:prstGeom prst="line">
            <a:avLst/>
          </a:prstGeom>
          <a:noFill/>
          <a:ln w="12700">
            <a:solidFill>
              <a:srgbClr val="E8A33D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2286000" y="3346704"/>
            <a:ext cx="320040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2743200" y="3255264"/>
            <a:ext cx="8275320" cy="384048"/>
          </a:xfrm>
          <a:prstGeom prst="roundRect">
            <a:avLst>
              <a:gd name="adj" fmla="val 14286"/>
            </a:avLst>
          </a:prstGeom>
          <a:solidFill>
            <a:srgbClr val="3D5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971800" y="32552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FastAPI application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0" y="325526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/predict, /forecast, /health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3954780"/>
            <a:ext cx="3200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2286000" y="3703320"/>
            <a:ext cx="8732520" cy="502920"/>
          </a:xfrm>
          <a:prstGeom prst="roundRect">
            <a:avLst>
              <a:gd name="adj" fmla="val 10909"/>
            </a:avLst>
          </a:prstGeom>
          <a:solidFill>
            <a:srgbClr val="3145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514600" y="3703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3703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 running the model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65960" y="4530852"/>
            <a:ext cx="3200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286000" y="4279392"/>
            <a:ext cx="8732520" cy="502920"/>
          </a:xfrm>
          <a:prstGeom prst="roundRect">
            <a:avLst>
              <a:gd name="adj" fmla="val 10909"/>
            </a:avLst>
          </a:prstGeom>
          <a:solidFill>
            <a:srgbClr val="3145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514600" y="42793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LSTM model (.keras)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279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2.97% MAPE, R² 0.928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65960" y="5106924"/>
            <a:ext cx="3200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2286000" y="4855464"/>
            <a:ext cx="8732520" cy="502920"/>
          </a:xfrm>
          <a:prstGeom prst="roundRect">
            <a:avLst>
              <a:gd name="adj" fmla="val 10909"/>
            </a:avLst>
          </a:prstGeom>
          <a:solidFill>
            <a:srgbClr val="3145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2514600" y="48554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(.pkl / .joblib)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485546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MinMaxScaler, saved from training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65960" y="5682996"/>
            <a:ext cx="3200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2286000" y="5431536"/>
            <a:ext cx="8732520" cy="502920"/>
          </a:xfrm>
          <a:prstGeom prst="roundRect">
            <a:avLst>
              <a:gd name="adj" fmla="val 10909"/>
            </a:avLst>
          </a:prstGeom>
          <a:solidFill>
            <a:srgbClr val="3145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2514600" y="54315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prediction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54315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feature_pipeline.py + model_service.py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End-to-end, on real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FORECAST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$79.54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per barrel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market 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window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5532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CONFIRMS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770632"/>
            <a:ext cx="201168" cy="201168"/>
          </a:xfrm>
          <a:prstGeom prst="ellipse">
            <a:avLst/>
          </a:prstGeom>
          <a:solidFill>
            <a:srgbClr val="3B876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537960" y="26883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fetched with zero manual input, on demand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456432"/>
            <a:ext cx="201168" cy="201168"/>
          </a:xfrm>
          <a:prstGeom prst="ellipse">
            <a:avLst/>
          </a:prstGeom>
          <a:solidFill>
            <a:srgbClr val="3B876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537960" y="33741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matches training exactly — no train/serve skew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142232"/>
            <a:ext cx="201168" cy="201168"/>
          </a:xfrm>
          <a:prstGeom prst="ellipse">
            <a:avLst/>
          </a:prstGeom>
          <a:solidFill>
            <a:srgbClr val="3B876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537960" y="40599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model serving real predictions from a public URL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828032"/>
            <a:ext cx="201168" cy="201168"/>
          </a:xfrm>
          <a:prstGeom prst="ellipse">
            <a:avLst/>
          </a:prstGeom>
          <a:solidFill>
            <a:srgbClr val="3B876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537960" y="47457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independently deployed cloud services working as one 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→ modular scripts → dual-framework API → Docker → live cloud deployment → fully automated data pipeline.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66344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1672</Words>
  <Application>Microsoft Office PowerPoint</Application>
  <PresentationFormat>Widescreen</PresentationFormat>
  <Paragraphs>254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Kourosh Shahram</cp:lastModifiedBy>
  <cp:revision>6</cp:revision>
  <dcterms:created xsi:type="dcterms:W3CDTF">2026-08-14T18:32:10Z</dcterms:created>
  <dcterms:modified xsi:type="dcterms:W3CDTF">2026-08-14T23:48:27Z</dcterms:modified>
</cp:coreProperties>
</file>